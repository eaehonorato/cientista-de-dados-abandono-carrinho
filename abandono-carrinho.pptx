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Vendas finalizadas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Nov</c:v>
                  </c:pt>
                  <c:pt idx="10">
                    <c:v>Dez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102</c:v>
                </c:pt>
                <c:pt idx="1">
                  <c:v>106</c:v>
                </c:pt>
                <c:pt idx="2">
                  <c:v>101</c:v>
                </c:pt>
                <c:pt idx="3">
                  <c:v>100</c:v>
                </c:pt>
                <c:pt idx="4">
                  <c:v>80</c:v>
                </c:pt>
                <c:pt idx="5">
                  <c:v>75</c:v>
                </c:pt>
                <c:pt idx="6">
                  <c:v>70</c:v>
                </c:pt>
                <c:pt idx="7">
                  <c:v>62</c:v>
                </c:pt>
                <c:pt idx="8">
                  <c:v>60</c:v>
                </c:pt>
                <c:pt idx="9">
                  <c:v>62</c:v>
                </c:pt>
                <c:pt idx="10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Abandono de carrinho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Nov</c:v>
                  </c:pt>
                  <c:pt idx="10">
                    <c:v>Dez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13</c:v>
                </c:pt>
                <c:pt idx="1">
                  <c:v>13</c:v>
                </c:pt>
                <c:pt idx="2">
                  <c:v>10</c:v>
                </c:pt>
                <c:pt idx="3">
                  <c:v>9</c:v>
                </c:pt>
                <c:pt idx="4">
                  <c:v>15</c:v>
                </c:pt>
                <c:pt idx="5">
                  <c:v>20</c:v>
                </c:pt>
                <c:pt idx="6">
                  <c:v>27</c:v>
                </c:pt>
                <c:pt idx="7">
                  <c:v>32</c:v>
                </c:pt>
                <c:pt idx="8">
                  <c:v>35</c:v>
                </c:pt>
                <c:pt idx="9">
                  <c:v>33</c:v>
                </c:pt>
                <c:pt idx="10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Frete médio (R$)</c:v>
                </c:pt>
              </c:strCache>
            </c:strRef>
          </c:tx>
          <c:spPr>
            <a:solidFill>
              <a:srgbClr val="E8A94B"/>
            </a:solidFill>
            <a:ln w="38100" cap="flat">
              <a:solidFill>
                <a:srgbClr val="E8A9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94B"/>
              </a:solidFill>
              <a:ln w="9525" cap="flat">
                <a:solidFill>
                  <a:srgbClr val="E8A9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Nov</c:v>
                  </c:pt>
                  <c:pt idx="10">
                    <c:v>Dez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11</c:v>
                </c:pt>
                <c:pt idx="1">
                  <c:v>12</c:v>
                </c:pt>
                <c:pt idx="2">
                  <c:v>12</c:v>
                </c:pt>
                <c:pt idx="3">
                  <c:v>11</c:v>
                </c:pt>
                <c:pt idx="4">
                  <c:v>25</c:v>
                </c:pt>
                <c:pt idx="5">
                  <c:v>26</c:v>
                </c:pt>
                <c:pt idx="6">
                  <c:v>25</c:v>
                </c:pt>
                <c:pt idx="7">
                  <c:v>26</c:v>
                </c:pt>
                <c:pt idx="8">
                  <c:v>25</c:v>
                </c:pt>
                <c:pt idx="9">
                  <c:v>25</c:v>
                </c:pt>
                <c:pt idx="10">
                  <c:v>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EAEF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6C"/>
                    </a:solidFill>
                    <a:latin typeface="Arial"/>
                  </a:rPr>
                  <a:t>Clientes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5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6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6C"/>
                    </a:solidFill>
                    <a:latin typeface="Arial"/>
                  </a:rPr>
                  <a:t>Frete médio (R$)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C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C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2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2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426"/>
                </a:solidFill>
                <a:latin typeface="Calibri"/>
              </a:rPr>
              <a:t>Frete ÷ ticket médio, por mês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Frete como % do ticket médio</c:v>
                </c:pt>
              </c:strCache>
            </c:strRef>
          </c:tx>
          <c:spPr>
            <a:solidFill>
              <a:srgbClr val="B9D9D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9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D9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D9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D9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94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A94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A94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A94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8A94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8A94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8A94B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Nov</c:v>
                  </c:pt>
                  <c:pt idx="10">
                    <c:v>Dez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</c:v>
                </c:pt>
                <c:pt idx="1">
                  <c:v>21.4</c:v>
                </c:pt>
                <c:pt idx="2">
                  <c:v>22.2</c:v>
                </c:pt>
                <c:pt idx="3">
                  <c:v>20</c:v>
                </c:pt>
                <c:pt idx="4">
                  <c:v>44.6</c:v>
                </c:pt>
                <c:pt idx="5">
                  <c:v>47.3</c:v>
                </c:pt>
                <c:pt idx="6">
                  <c:v>44.6</c:v>
                </c:pt>
                <c:pt idx="7">
                  <c:v>48.1</c:v>
                </c:pt>
                <c:pt idx="8">
                  <c:v>45.5</c:v>
                </c:pt>
                <c:pt idx="9">
                  <c:v>46.3</c:v>
                </c:pt>
                <c:pt idx="10">
                  <c:v>47.3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005840"/>
            <a:ext cx="2286000" cy="2286000"/>
          </a:xfrm>
          <a:prstGeom prst="ellipse">
            <a:avLst/>
          </a:prstGeom>
          <a:solidFill>
            <a:srgbClr val="0F4A4B"/>
          </a:solidFill>
          <a:ln/>
        </p:spPr>
      </p:sp>
      <p:sp>
        <p:nvSpPr>
          <p:cNvPr id="3" name="Shape 1"/>
          <p:cNvSpPr/>
          <p:nvPr/>
        </p:nvSpPr>
        <p:spPr>
          <a:xfrm>
            <a:off x="9829800" y="1417320"/>
            <a:ext cx="1463040" cy="1463040"/>
          </a:xfrm>
          <a:prstGeom prst="ellipse">
            <a:avLst/>
          </a:prstGeom>
          <a:solidFill>
            <a:srgbClr val="12595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CIÊNCIA DE DADOS  →  TIME DE MARKETING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Abandono de carrinho: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causa à ação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revelam sobre a queda em vendas — e como um modelo preditivo vai nos ajudar a agir, cliente a cliente.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2801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storytelling de dados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vendas finalizadas vêm caindo mês após mês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de marketing identificou um aumento consistente de clientes que chegam ao carrinho, mas não concluem a compra. 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ação, precisávamos entender: isso é ruído do dia a dia — ou existe uma causa real por trás da queda?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responde a essa pergunta em duas partes: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13308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do gráfico de abandono revelam sobre a causa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82312"/>
            <a:ext cx="384048" cy="384048"/>
          </a:xfrm>
          <a:prstGeom prst="ellipse">
            <a:avLst/>
          </a:prstGeom>
          <a:solidFill>
            <a:srgbClr val="0B3D3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82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754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novo modelo preditivo vai nos ajudar a agir a tempo, cliente a cliente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160020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F2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ABANDONO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0" y="2194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863840" y="2880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Jan–Abr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3337560"/>
            <a:ext cx="3474720" cy="0"/>
          </a:xfrm>
          <a:prstGeom prst="line">
            <a:avLst/>
          </a:prstGeom>
          <a:noFill/>
          <a:ln w="12700">
            <a:solidFill>
              <a:srgbClr val="D8E4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5204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29,3%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863840" y="4206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Mai–Dez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4709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3x mais abandono no 2º semestre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 · O GRÁFICO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de 2025 mostram, mês a mês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11247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 · A DESCOBERTA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frete médio dobrou em maio — e o abandono nunca mais foi o mesmo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curvas se movem juntas: assim que o frete médio sobe de forma abrupta, o abandono de carrinho começa a crescer mês a mês — e as vendas finalizadas caem na mesma proporção.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200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8A94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00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+121%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MÉDIO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R$ 11,50 → R$ 25,40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16552" y="288036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2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4736592" y="3200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3200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3x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36592" y="3794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ABANDONO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41605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9,9% → 29,3%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84464" y="288036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2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604504" y="3200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604504" y="3200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04504" y="3794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FINALIZADAS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604504" y="41605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 → 68 / mês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(Jan–Abr)  →  Depois (Mai–Dez)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 · A CAUSA MAIS PROVÁVEL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ticket médio não mudou. O peso do frete no bolso do cliente, sim.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médio de cada pedido ficou estável o ano inteiro (~R$ 55). Isso descarta a ideia de que o cliente passou a comprar mais e por isso "sentiu" mais o frete — o custo do frete é que aumentou sozinho, sem nenhum ganho percebido em troca.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5669280" cy="1783080"/>
          </a:xfrm>
          <a:prstGeom prst="roundRect">
            <a:avLst>
              <a:gd name="adj" fmla="val 5128"/>
            </a:avLst>
          </a:prstGeom>
          <a:solidFill>
            <a:srgbClr val="0B3D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06908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Jan–Abr, o frete pesava ~21% do valor do pedido.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Mai–Dez, passou a representar ~46% — quase metade da compra.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92240" y="1554480"/>
          <a:ext cx="51663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 · O QUE FAZER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Recomendação: tratar o frete como causa raiz do abandono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tabela de frete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031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por que o custo médio saltou de ~R$12 para ~R$26 a partir de maio, e se há espaço de negociação com transportadoras.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97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frete grátis / com desconto acima de um valor mínimo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632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choque no checkout para pedidos de ticket médio, sem abrir mão de margem em todos os pedidos.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57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o frete mais cedo na jornada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023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custo estimado antes do checkout final reduz a sensação de "surpresa" que costuma gerar abandono.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177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o frete como métrica de negócio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9834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o frete médio e sua relação com o ticket lado a lado com a taxa de abandono nos relatórios recorrentes.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840480"/>
            <a:ext cx="3657600" cy="3657600"/>
          </a:xfrm>
          <a:prstGeom prst="ellipse">
            <a:avLst/>
          </a:prstGeom>
          <a:solidFill>
            <a:srgbClr val="0F4A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REVISÃO DE FRETE LEVA TEMPO.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7432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os clientes de hoje? Como agir agora,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a cliente, enquanto isso?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663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entra o modelo preditivo desenvolvido pelo time de dados.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2 · O MODELO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"radar" que avisa, em tempo real, quem está prestes a desistir da compra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ANALOGIA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 vendedor experiente de loja física, que percebe quando um cliente está hesitando na fila do caixa e se antecipa antes que ele desista da compra.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86200"/>
            <a:ext cx="5852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é a escala: o modelo faz isso para milhares de clientes ao mesmo tempo, 24 horas por dia, observando o comportamento de cada um no site (itens no carrinho, tempo de navegação, histórico de compras) para estimar a probabilidade de abandono antes que ele aconteça.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965960"/>
            <a:ext cx="4343400" cy="1965960"/>
          </a:xfrm>
          <a:prstGeom prst="roundRect">
            <a:avLst>
              <a:gd name="adj" fmla="val 5581"/>
            </a:avLst>
          </a:prstGeom>
          <a:solidFill>
            <a:srgbClr val="0B3D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ESTIMA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56032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probabilidade de cada cliente abandonar o carrinho antes de finalizar a compra.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0" y="4114800"/>
            <a:ext cx="4343400" cy="2011680"/>
          </a:xfrm>
          <a:prstGeom prst="roundRect">
            <a:avLst>
              <a:gd name="adj" fmla="val 5455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B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470916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agir depois que o cliente já saiu, conseguimos agir no momento exato da decisão.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2 · A ESTRATÉGIA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cupom entra em ação — só onde faz diferença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cupom não é enviado para todo mundo — isso encareceria a operação sem necessidade. Ele é acionado apenas no caso mais valioso: quando o modelo não esperava aquele abandono.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5328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27248"/>
            <a:ext cx="1655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navega e chega ao carrinho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06040" y="30632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43784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44952" y="25328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044952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3127248"/>
            <a:ext cx="1655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classifica o cliente como baixa propensão ao abandono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01184" y="30632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38928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40096" y="253288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5340096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0096" y="3127248"/>
            <a:ext cx="1655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assim, o cliente sinaliza que vai abandonar a compra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96328" y="30632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34072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635240" y="2532888"/>
            <a:ext cx="457200" cy="457200"/>
          </a:xfrm>
          <a:prstGeom prst="ellipse">
            <a:avLst/>
          </a:prstGeom>
          <a:solidFill>
            <a:srgbClr val="E8A94B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127248"/>
            <a:ext cx="1655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aciona um alerta automático de "caso inesperado"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91472" y="306324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29216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2F7F6"/>
          </a:solidFill>
          <a:ln/>
        </p:spPr>
      </p:sp>
      <p:sp>
        <p:nvSpPr>
          <p:cNvPr id="26" name="Shape 24"/>
          <p:cNvSpPr/>
          <p:nvPr/>
        </p:nvSpPr>
        <p:spPr>
          <a:xfrm>
            <a:off x="9930384" y="25328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9930384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930384" y="3127248"/>
            <a:ext cx="165506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envia o cupom de desconto na hora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846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 desconto é usado como uma ferramenta cirúrgica — para recuperar vendas que, sem o alerta, estariam perdidas — e não como um desconto genérico para toda a base.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2 · OS NÚMEROS, SEM JARGÃO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45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"90% de acurácia" e "85% de recall" significam na prática</a:t>
            </a:r>
            <a:endParaRPr lang="en-US" sz="24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100 previsões que o modelo faz sobre o comportamento dos clientes, 90 estão corretas.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348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nota geral de confiabilidade do modelo — o quão bem ele acerta, olhando para todas as previsões, de abandono ou não.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920240"/>
            <a:ext cx="5532120" cy="4114800"/>
          </a:xfrm>
          <a:prstGeom prst="roundRect">
            <a:avLst>
              <a:gd name="adj" fmla="val 2667"/>
            </a:avLst>
          </a:prstGeom>
          <a:solidFill>
            <a:srgbClr val="0B3D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4290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100 clientes que realmente vão abandonar o carrinho, o modelo consegue identificar 85 deles antes que isso aconteça.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5262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nossa estratégia, esse é o número mais importante: quanto maior o recall, menos clientes em risco passam despercebidos — e mais cupons chegam a quem precisa, a tempo.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2 · O QUE ESPERAMOS GANHAR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esperados para o negócio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4297680"/>
          </a:xfrm>
          <a:prstGeom prst="roundRect">
            <a:avLst>
              <a:gd name="adj" fmla="val 3484"/>
            </a:avLst>
          </a:prstGeom>
          <a:solidFill>
            <a:srgbClr val="F2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9144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2075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vendas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07568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das vendas que seriam perdidas passa a ser recuperada no exato momento da hesitação do cliente.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74136" y="1691640"/>
            <a:ext cx="2624328" cy="4297680"/>
          </a:xfrm>
          <a:prstGeom prst="roundRect">
            <a:avLst>
              <a:gd name="adj" fmla="val 3484"/>
            </a:avLst>
          </a:prstGeom>
          <a:solidFill>
            <a:srgbClr val="F2F7F6"/>
          </a:solidFill>
          <a:ln/>
        </p:spPr>
      </p:sp>
      <p:sp>
        <p:nvSpPr>
          <p:cNvPr id="9" name="Shape 7"/>
          <p:cNvSpPr/>
          <p:nvPr/>
        </p:nvSpPr>
        <p:spPr>
          <a:xfrm>
            <a:off x="3648456" y="1965960"/>
            <a:ext cx="502920" cy="91440"/>
          </a:xfrm>
          <a:prstGeom prst="roundRect">
            <a:avLst/>
          </a:prstGeom>
          <a:solidFill>
            <a:srgbClr val="E8A9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48456" y="2194560"/>
            <a:ext cx="2075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eficiente do orçamento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3063240"/>
            <a:ext cx="207568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cupom só é usado onde há real necessidade — não como desconto generalizado para toda a base.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1691640"/>
            <a:ext cx="2624328" cy="4297680"/>
          </a:xfrm>
          <a:prstGeom prst="roundRect">
            <a:avLst>
              <a:gd name="adj" fmla="val 3484"/>
            </a:avLst>
          </a:prstGeom>
          <a:solidFill>
            <a:srgbClr val="F2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3952" y="1965960"/>
            <a:ext cx="502920" cy="91440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2194560"/>
            <a:ext cx="2075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no momento certo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063240"/>
            <a:ext cx="207568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intervenção acontece durante a jornada de compra, não depois que o cliente já foi embora.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25128" y="1691640"/>
            <a:ext cx="2624328" cy="4297680"/>
          </a:xfrm>
          <a:prstGeom prst="roundRect">
            <a:avLst>
              <a:gd name="adj" fmla="val 3484"/>
            </a:avLst>
          </a:prstGeom>
          <a:solidFill>
            <a:srgbClr val="F2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299448" y="1965960"/>
            <a:ext cx="502920" cy="9144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99448" y="2194560"/>
            <a:ext cx="2075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2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dados para decidir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99448" y="3063240"/>
            <a:ext cx="207568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ciclo do modelo gera novas evidências para calibrar a estratégia e apoiar decisões como a do frete.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0F4A4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0972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frentes, um mesmo objetivo: recuperar a compra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0F4A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política de frete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832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Atacar a causa raiz identificada no gráfico: o frete que dobrou e passou a pesar quase metade do valor da compra.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3774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B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TÁTICA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o modelo preditivo + cupom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3832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B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agora, cliente a cliente, enquanto a mudança estrutural do frete é avaliada e implementada.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663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iniciar um piloto do modelo com envio automático de cupom, em paralelo à revisão da tabela de frete.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2026-09-11T23:26:51Z</dcterms:created>
  <dcterms:modified xsi:type="dcterms:W3CDTF">2026-09-11T23:26:51Z</dcterms:modified>
</cp:coreProperties>
</file>